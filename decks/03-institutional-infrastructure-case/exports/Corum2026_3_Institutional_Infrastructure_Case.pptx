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session is practical. We take one large real incident to see how infrastructure fails, then walk through a composite case: a university central research laboratory that serves external industry clients, assessed and rebuilt in two phases.</a:t>
            </a:r>
          </a:p>
          <a:p/>
          <a:p>
            <a:r>
              <a:t>Everything maps back to the CSF functions from yesterday, so this afternoon's exercise will feel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film, about 15 seconds: the 2021 HSE attack, from the first email to detonation eight weeks later. Advance when it reaches the title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timeline one click per event. The details come from the independent PwC post-incident review published in December 2021.</a:t>
            </a:r>
          </a:p>
          <a:p/>
          <a:p>
            <a:r>
              <a:t>The orange dots are the moments the organisation could have acted: antivirus saw it on 31 March but was set to monitor only; a week before detonation the security provider reported unhandled threats on at least sixteen systems. The last cards show the cost and the root finding, which is a governance finding, not a technical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message of the session. Technology detected the intrusion; the organisation did not respond. That is why yesterday GOVERN was at the centre of the 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three layers we use in social engineering training. Keep them in mind; every finding in the case belongs to one of them, and the people layer is usually the cheapest to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composite built from typical core facilities; the numbers are illustrative. If you wish, relate it to our own work at Sivas Cumhuriyet University's central research centre, where this external-client angle shaped our project design.</a:t>
            </a:r>
          </a:p>
          <a:p/>
          <a:p>
            <a:r>
              <a:t>The defining feature is the external clients. A university lab that only serves its own researchers has an internal risk; a facility that holds twelve companies' samples and data is part of their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phases. First assess, then build and train. The order matters: without an inventory and a Current Profile you cannot know which investments close which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from the outside in: perimeter, endpoints and accounts, laboratory devices, and finally the crown jewels. Ask the room what their own crown jewels are before revealing the list.</a:t>
            </a:r>
          </a:p>
          <a:p/>
          <a:p>
            <a:r>
              <a:t>The cold chain is the item people forget: a freezer alarm on Wi-Fi is a cyber asset with a biosafety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findings that appear in almost every assessment of a shared research facility. These are illustrative, not from one audit. Note how each one maps to a CSF subcategory family; that mapping is what turns a list of complaints into a Current Profile.</a:t>
            </a:r>
          </a:p>
          <a:p/>
          <a:p>
            <a:r>
              <a:t>Ask: how many of these would be true in your own building?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line I use in every training. Technical controls raise the cost of attacking systems, so attackers go around them, through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Research, develop, exploit: the three phases from my social engineering module, applied to our facility. Nothing in the research phase is secret; it is all public.</a:t>
            </a:r>
          </a:p>
          <a:p/>
          <a:p>
            <a:r>
              <a:t>The countermeasure is a process, not a product: a ticket and a call-back to a number you already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Ego, sympathy, intimidation. Every training example in my deck falls into one of these. The practical rule for staff: when a request comes with urgency and secrecy together, stop and verify through a different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target architecture in four clicks. First the zones: campus IT, a separate lab network with no internet by default, and a client data enclave. Second, the vendor jump host: the only way in for remote support, with MFA, session recording and time limits. Third, central logging with synchronised clocks. Fourth, an offline, immutable backup whose restore has been tested.</a:t>
            </a:r>
          </a:p>
          <a:p/>
          <a:p>
            <a:r>
              <a:t>Each element closes one of the findings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largest health-data breach on record in the United States: 192.7 million individuals, from one portal without MFA.</a:t>
            </a:r>
          </a:p>
          <a:p/>
          <a:p>
            <a:r>
              <a:t>This is PR.AA in practice. For our facility it means the vendor jump host and any VPN or remote desktop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Synnovis provided pathology services to King's College Hospital and Guy's and St Thomas'. NHS England's cumulative figures to mid-September 2024: 10,146 outpatient appointments and 1,705 elective procedures postponed. In June 2025 King's confirmed that the attack was one contributing factor in a patient's death.</a:t>
            </a:r>
          </a:p>
          <a:p/>
          <a:p>
            <a:r>
              <a:t>Turn it around: our facility is someone else's Synnovis. GV.SC applies in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log sources, three rules. The freezer alarm is in orange on purpose: it is both a security signal and a biosafety signal.</a:t>
            </a:r>
          </a:p>
          <a:p/>
          <a:p>
            <a:r>
              <a:t>The retention point links back to the opening case: if you keep two weeks of logs, an eight-week intrusion is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levels, one click each. Most alerts are events. Calling every event a crisis exhausts the team; calling a crisis an event delays the response. Write the thresholds down before you need them.</a:t>
            </a:r>
          </a:p>
          <a:p/>
          <a:p>
            <a:r>
              <a:t>In a laboratory, anything that touches containment or sample viability goes straight to the top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RACI matrix adapted from my incident response deck, with one change for laboratories: the biosafety officer is accountable for decisions about samples and containment. IT must not cut power to a freezer room on its own authority.</a:t>
            </a:r>
          </a:p>
          <a:p/>
          <a:p>
            <a:r>
              <a:t>Five rows, one click each. The reporting row reminds us of Law 7545 and KVKK.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golden rule from my incident response material, one click per line. In a laboratory, human safety includes biosafety: containment comes before getting the sequencer back online.</a:t>
            </a:r>
          </a:p>
          <a:p/>
          <a:p>
            <a:r>
              <a:t>The last line adds the balance: containment speed versus forensic fidelity. Move fast, but keep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3-2-1 rule. Ransomware groups look for backups first, so the offline or immutable copy is the one that saves you.</a:t>
            </a:r>
          </a:p>
          <a:p/>
          <a:p>
            <a:r>
              <a:t>Ask: when did your group last restore something from backup on purpose?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scenario, three maturity levels, from my April incident response workshop. One click per level, then the question to the room.</a:t>
            </a:r>
          </a:p>
          <a:p/>
          <a:p>
            <a:r>
              <a:t>Level 2 does not require a large security team; it requires central logs and a practised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30-day sprint from my incident response material. It is deliberately modest: inventory and roles, a starter kit of plans, a telemetry audit, and a tabletop exercise.</a:t>
            </a:r>
          </a:p>
          <a:p/>
          <a:p>
            <a:r>
              <a:t>Any institution represented here can do this before the end of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metrics a facility can actually collect. Rising phishing reports are good news: they mean people are noticing.</a:t>
            </a:r>
          </a:p>
          <a:p/>
          <a:p>
            <a:r>
              <a:t>These numbers are also how you justify the budget for phase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lines, one click each, then the afternoon programme. Prof. Merey's session on policies and SOPs follows lunch; it builds directly on the RACI and playbooks we saw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for this session. Every DOI on this slide was checked against Crossref.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release for lunch. Remind everyone that the 14:30 exercise uses everything from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" descr="Institutio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ing film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se" descr="Eight weeks from first email to ransom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sson" descr="The signals were the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yers" descr="Technical, people, phys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cility" descr="A core lab that also serves indus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ases" descr="Ass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ewels" descr="Start from what must never be lo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dings" descr="Eight findings, eight CSF subcatego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chneier" descr="“Amateurs hack systems,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" descr="Three phases, all in plain s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essures" descr="E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h" descr="Segment, gate, watch, keep a cop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nge" descr="chan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ynnovis" descr="When the lab is the suppli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lemetry" descr="Six log sources, three ru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axonomy" descr="Name the level before you respo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aci" descr="Who decides, who acts, who is to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olden" descr="1 · Human safe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up" descr="The 3-2-1 ru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turity" descr="A maturity ladder for respon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print" descr="Four weeks, four deliverab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trics" descr="You cannot manage what you do not meas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akeaways" descr="Inventory before investm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s" descr="References and further re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hanks" descr="Thank yo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Institutional Cybersecurity Infrastructure</dc:title>
  <dc:subject/>
  <dc:creator>Prof. Dr. Ahmet Altun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